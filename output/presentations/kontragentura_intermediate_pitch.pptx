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b14dc4da6946d0" /><Relationship Type="http://schemas.openxmlformats.org/officeDocument/2006/relationships/extended-properties" Target="/docProps/app.xml" Id="Rac1c24da9bb540a3" /><Relationship Type="http://schemas.openxmlformats.org/officeDocument/2006/relationships/officeDocument" Target="/ppt/presentation.xml" Id="R90150b72b3cc47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7239b666ad4ba6"/>
  </p:sldMasterIdLst>
  <p:notesMasterIdLst>
    <p:notesMasterId xmlns:r="http://schemas.openxmlformats.org/officeDocument/2006/relationships" r:id="R575b34795d604e40"/>
  </p:notesMasterIdLst>
  <p:sldIdLst>
    <p:sldId xmlns:r="http://schemas.openxmlformats.org/officeDocument/2006/relationships" id="256" r:id="Rfb307e321369497d"/>
    <p:sldId xmlns:r="http://schemas.openxmlformats.org/officeDocument/2006/relationships" id="257" r:id="R6279cea0bc0f478b"/>
    <p:sldId xmlns:r="http://schemas.openxmlformats.org/officeDocument/2006/relationships" id="258" r:id="Rc581a7b2ea1c48d4"/>
    <p:sldId xmlns:r="http://schemas.openxmlformats.org/officeDocument/2006/relationships" id="259" r:id="R26af79539613460e"/>
    <p:sldId xmlns:r="http://schemas.openxmlformats.org/officeDocument/2006/relationships" id="260" r:id="R5a651235b6484a38"/>
    <p:sldId xmlns:r="http://schemas.openxmlformats.org/officeDocument/2006/relationships" id="261" r:id="R5268bab66a144b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3338702ea34b68" /><Relationship Type="http://schemas.openxmlformats.org/officeDocument/2006/relationships/slideMaster" Target="/ppt/slideMasters/slideMaster1.xml" Id="Rfa7239b666ad4ba6" /><Relationship Type="http://schemas.openxmlformats.org/officeDocument/2006/relationships/notesMaster" Target="/ppt/notesMasters/notesMaster1.xml" Id="R575b34795d604e40" /><Relationship Type="http://schemas.openxmlformats.org/officeDocument/2006/relationships/presProps" Target="/ppt/presProps.xml" Id="Raa0ec06d661a4074" /><Relationship Type="http://schemas.openxmlformats.org/officeDocument/2006/relationships/tableStyles" Target="/ppt/tableStyles.xml" Id="R41802ff26b844436" /><Relationship Type="http://schemas.openxmlformats.org/officeDocument/2006/relationships/slide" Target="/ppt/slides/slide1.xml" Id="Rfb307e321369497d" /><Relationship Type="http://schemas.openxmlformats.org/officeDocument/2006/relationships/slide" Target="/ppt/slides/slide2.xml" Id="R6279cea0bc0f478b" /><Relationship Type="http://schemas.openxmlformats.org/officeDocument/2006/relationships/slide" Target="/ppt/slides/slide3.xml" Id="Rc581a7b2ea1c48d4" /><Relationship Type="http://schemas.openxmlformats.org/officeDocument/2006/relationships/slide" Target="/ppt/slides/slide4.xml" Id="R26af79539613460e" /><Relationship Type="http://schemas.openxmlformats.org/officeDocument/2006/relationships/slide" Target="/ppt/slides/slide5.xml" Id="R5a651235b6484a38" /><Relationship Type="http://schemas.openxmlformats.org/officeDocument/2006/relationships/slide" Target="/ppt/slides/slide6.xml" Id="R5268bab66a144b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568d52657e45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62a0b7017f4f55" /><Relationship Type="http://schemas.openxmlformats.org/officeDocument/2006/relationships/notesMaster" Target="/ppt/notesMasters/notesMaster1.xml" Id="R6ca6c3a0e1164a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ce39abaf0647c5" /><Relationship Type="http://schemas.openxmlformats.org/officeDocument/2006/relationships/notesMaster" Target="/ppt/notesMasters/notesMaster1.xml" Id="Ra59a5830606941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231fa8daea47b0" /><Relationship Type="http://schemas.openxmlformats.org/officeDocument/2006/relationships/notesMaster" Target="/ppt/notesMasters/notesMaster1.xml" Id="R88287d38d39745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68b2f082454e6a" /><Relationship Type="http://schemas.openxmlformats.org/officeDocument/2006/relationships/notesMaster" Target="/ppt/notesMasters/notesMaster1.xml" Id="Ra1a533e77c014d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e211e9dd6c4dac" /><Relationship Type="http://schemas.openxmlformats.org/officeDocument/2006/relationships/notesMaster" Target="/ppt/notesMasters/notesMaster1.xml" Id="Rb3d218419e9149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4c6326370c49ea" /><Relationship Type="http://schemas.openxmlformats.org/officeDocument/2006/relationships/notesMaster" Target="/ppt/notesMasters/notesMaster1.xml" Id="Rb18945d6178449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/Users/exoldoff/Downloads/project_description.md — аннотация проекта и название решения</a:t>
            </a:r>
          </a:p>
          <a:p xmlns:a="http://schemas.openxmlformats.org/drawingml/2006/main">
            <a:r>
              <a:t>- /Users/exoldoff/Downloads/Blue Yellow and White Modern Minimalist Pitch Deck Presentation/1.jpg — визуальный референс: бумажная фактура, крупная синяя типографика, дуги</a:t>
            </a:r>
          </a:p>
          <a:p xmlns:a="http://schemas.openxmlformats.org/drawingml/2006/main">
            <a:r>
              <a:t>- /Users/exoldoff/Downloads/Blue Yellow and White Modern Minimalist Pitch Deck Presentation/3.jpg — визуальный референс композиции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/Users/exoldoff/Downloads/project_description.md — раздел 10 «Команда и распределение задач»</a:t>
            </a:r>
          </a:p>
          <a:p xmlns:a="http://schemas.openxmlformats.org/drawingml/2006/main">
            <a:r>
              <a:t>- /Users/exoldoff/Downloads/Blue Yellow and White Modern Minimalist Pitch Deck Presentation/2.jpg — пользовательский визуальный референс композиции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/Users/exoldoff/Downloads/project_description.md — раздел 2 «Проблематика» и раздел 3 «Постановка задачи»</a:t>
            </a:r>
          </a:p>
          <a:p xmlns:a="http://schemas.openxmlformats.org/drawingml/2006/main">
            <a:r>
              <a:t>- /Users/exoldoff/Downloads/product_materials.md — раздел 1 «Пользователь и его проблема», наблюдения по 100 карточкам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/Users/exoldoff/Downloads/product_materials.md — раздел 2 «Продуктовая гипотеза и ценностное предложение»</a:t>
            </a:r>
          </a:p>
          <a:p xmlns:a="http://schemas.openxmlformats.org/drawingml/2006/main">
            <a:r>
              <a:t>- /Users/exoldoff/Downloads/product_materials.md — раздел 3 «Границы MVP» и раздел 4 «Основной пользовательский сценарий»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/Users/exoldoff/Downloads/project_description.md — раздел 4 «Техническое решение»</a:t>
            </a:r>
          </a:p>
          <a:p xmlns:a="http://schemas.openxmlformats.org/drawingml/2006/main">
            <a:r>
              <a:t>- /Users/exoldoff/Downloads/project_description.md — схема прохода, архитектурные решения и стек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/Users/exoldoff/Downloads/project_description.md — раздел 6 «Предварительные результаты»</a:t>
            </a:r>
          </a:p>
          <a:p xmlns:a="http://schemas.openxmlformats.org/drawingml/2006/main">
            <a:r>
              <a:t>- /Users/exoldoff/Downloads/project_description.md — раздел 7 «Ограничения текущей версии» и раздел 9 «План работ до финала»</a:t>
            </a:r>
          </a:p>
          <a:p xmlns:a="http://schemas.openxmlformats.org/drawingml/2006/main">
            <a:r>
              <a:t>- /Users/exoldoff/Downloads/product_materials.md — раздел 5 «Предварительные критерии успеха»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356651854040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36175f52d54b77" /><Relationship Type="http://schemas.openxmlformats.org/officeDocument/2006/relationships/slideLayout" Target="/ppt/slideLayouts/slideLayout1.xml" Id="R289ef36c829d42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9ef36c829d42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a975a126244b5" /><Relationship Type="http://schemas.openxmlformats.org/officeDocument/2006/relationships/notesSlide" Target="/ppt/notesSlides/notesSlide1.xml" Id="R4f6190914b0a4d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25840366447ea" /><Relationship Type="http://schemas.openxmlformats.org/officeDocument/2006/relationships/notesSlide" Target="/ppt/notesSlides/notesSlide2.xml" Id="Red916666715444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f27aa1bcb4ff3" /><Relationship Type="http://schemas.openxmlformats.org/officeDocument/2006/relationships/notesSlide" Target="/ppt/notesSlides/notesSlide3.xml" Id="R1bedc1d0d2ac49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712732b6747f6" /><Relationship Type="http://schemas.openxmlformats.org/officeDocument/2006/relationships/notesSlide" Target="/ppt/notesSlides/notesSlide4.xml" Id="R49f14347a8004a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152871ccc4221" /><Relationship Type="http://schemas.openxmlformats.org/officeDocument/2006/relationships/notesSlide" Target="/ppt/notesSlides/notesSlide5.xml" Id="R666d4cf55c4546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44a5f9d704687" /><Relationship Type="http://schemas.openxmlformats.org/officeDocument/2006/relationships/notesSlide" Target="/ppt/notesSlides/notesSlide6.xml" Id="Rbcb1e59f6cf944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D7F9F-87E5-4267-BC6B-79813418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723900" y="5524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62955-EB64-48D3-8C23-7F5AE016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923925" y="447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278A4-2C0D-44D9-96E5-E063F068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971550" y="695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2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2BE30-5645-4F66-85A1-6B547BDD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КонтрАГЕНТура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0F4B2-1832-4DFD-B091-E3104983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4350"/>
            <a:ext cx="1562100" cy="40005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7171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04.09.2026</a:t>
            </a:r>
          </a:p>
        </p:txBody>
      </p:sp>
      <p:sp>
        <p:nvSpPr>
          <p:cNvPr id="6" name="deck-title-1">
            <a:extLst xmlns:a="http://schemas.openxmlformats.org/drawingml/2006/main">
              <a:ext uri="{FF2B5EF4-FFF2-40B4-BE49-F238E27FC236}">
                <a16:creationId xmlns:a16="http://schemas.microsoft.com/office/drawing/2014/main" id="{283E9992-F586-490C-84A7-E2EF1C95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717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475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5475" b="1">
                <a:solidFill>
                  <a:srgbClr val="063F8C"/>
                </a:solidFill>
                <a:latin typeface="Georgia"/>
                <a:ea typeface="Georgia"/>
                <a:cs typeface="Georgia"/>
              </a:rPr>
              <a:t>Система проверки</a:t>
            </a:r>
          </a:p>
        </p:txBody>
      </p:sp>
      <p:sp>
        <p:nvSpPr>
          <p:cNvPr id="7" name="deck-title-2">
            <a:extLst xmlns:a="http://schemas.openxmlformats.org/drawingml/2006/main">
              <a:ext uri="{FF2B5EF4-FFF2-40B4-BE49-F238E27FC236}">
                <a16:creationId xmlns:a16="http://schemas.microsoft.com/office/drawing/2014/main" id="{BD14CE42-C88E-46C2-9E71-9936250C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475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5475" b="1">
                <a:solidFill>
                  <a:srgbClr val="063F8C"/>
                </a:solidFill>
                <a:latin typeface="Georgia"/>
                <a:ea typeface="Georgia"/>
                <a:cs typeface="Georgia"/>
              </a:rPr>
              <a:t>контрагентов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132A1-EAFA-4595-ACF6-AFBEDFA9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48125"/>
            <a:ext cx="1504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2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96161-072D-4934-B31A-992E94C5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053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latin typeface="Arial"/>
                <a:ea typeface="Arial"/>
                <a:cs typeface="Arial"/>
              </a:rPr>
              <a:t>КЕЙСОДАТЕЛЬ · АЛЬФА-БАНК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D4ED5-5D4D-49FE-8CC9-26E4A86C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470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C06D0-0DC5-469C-A0E9-17D0B206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055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«КонтрАГЕНТура»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487AB-AE43-4229-B592-64B9677E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695825"/>
            <a:ext cx="2238375" cy="1466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6B8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418B2-679E-479B-8486-6160C3CF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10150"/>
            <a:ext cx="1362075" cy="8477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6B8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80AEF-2F8B-4426-9DB7-1ADD5384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038850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3F8C"/>
          </a:solidFill>
          <a:ln xmlns:a="http://schemas.openxmlformats.org/drawingml/2006/main" w="9525">
            <a:solidFill>
              <a:srgbClr val="063F8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896049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00F248-BE8D-419B-BD75-B0C7F7F9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666750" y="4000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57B0E-29EF-4062-9FDF-0729BA56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800100" y="342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ader-2">
            <a:extLst xmlns:a="http://schemas.openxmlformats.org/drawingml/2006/main">
              <a:ext uri="{FF2B5EF4-FFF2-40B4-BE49-F238E27FC236}">
                <a16:creationId xmlns:a16="http://schemas.microsoft.com/office/drawing/2014/main" id="{32736458-CE0E-4E8A-8578-A0A4F2A7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63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3F8C"/>
                </a:solidFill>
                <a:latin typeface="Arial"/>
                <a:ea typeface="Arial"/>
                <a:cs typeface="Arial"/>
              </a:rPr>
              <a:t>КОНТРАГЕНТУРА · ПРОМЕЖУТОЧНАЯ ВЕРСИЯ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9369B-ADC9-4615-A5CA-81452BAD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71500" cy="285750"/>
          </a:xfrm>
          <a:prstGeom xmlns:a="http://schemas.openxmlformats.org/drawingml/2006/main" prst="roundRect">
            <a:avLst>
              <a:gd name="adj" fmla="val 46667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17171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F50AE-7575-4F1C-975D-E8546CB4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am-title">
            <a:extLst xmlns:a="http://schemas.openxmlformats.org/drawingml/2006/main">
              <a:ext uri="{FF2B5EF4-FFF2-40B4-BE49-F238E27FC236}">
                <a16:creationId xmlns:a16="http://schemas.microsoft.com/office/drawing/2014/main" id="{76843AB1-282D-437F-B67C-D060AE31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063F8C"/>
                </a:solidFill>
                <a:latin typeface="Georgia"/>
                <a:ea typeface="Georgia"/>
                <a:cs typeface="Georgia"/>
              </a:rPr>
              <a:t>Команда «КонтрАГЕНТура»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41B8B-C517-4579-9E3C-FA9C1AD9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Три участника · роли и зоны ответственности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A1BCE-FEB8-47B2-A54F-AA1B97E0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76450"/>
            <a:ext cx="381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2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A2812-BAA4-425A-9193-57087C4F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76450"/>
            <a:ext cx="14287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0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0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12300" b="1">
                <a:solidFill>
                  <a:srgbClr val="063F8C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05C0A-F08D-4244-8A95-FB5539DA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100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E52B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52B2F"/>
                </a:solidFill>
                <a:latin typeface="Arial"/>
                <a:ea typeface="Arial"/>
                <a:cs typeface="Arial"/>
              </a:rPr>
              <a:t>УЧАСТНИКА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B595F-C472-4DFD-9580-2C49953A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49580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63F8C"/>
                </a:solidFill>
                <a:latin typeface="Georgia"/>
                <a:ea typeface="Georgia"/>
                <a:cs typeface="Georgia"/>
              </a:rPr>
              <a:t>продукт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63F8C"/>
                </a:solidFill>
                <a:latin typeface="Georgia"/>
                <a:ea typeface="Georgia"/>
                <a:cs typeface="Georgia"/>
              </a:rPr>
              <a:t>данные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63F8C"/>
                </a:solidFill>
                <a:latin typeface="Georgia"/>
                <a:ea typeface="Georgia"/>
                <a:cs typeface="Georgia"/>
              </a:rPr>
              <a:t>LLM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855D9-8787-4690-8831-3A94707B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6B800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F6B80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C9551-4E88-4C5D-88FB-494E1301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288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063F8C"/>
                </a:solidFill>
                <a:latin typeface="Georgia"/>
                <a:ea typeface="Georgia"/>
                <a:cs typeface="Georgia"/>
              </a:rPr>
              <a:t>Холкин Егор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4CDCC-2F6D-4912-B515-EBB239C1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479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52B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52B2F"/>
                </a:solidFill>
                <a:latin typeface="Arial"/>
                <a:ea typeface="Arial"/>
                <a:cs typeface="Arial"/>
              </a:rPr>
              <a:t>AI PRODUCT · UX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094EE-000D-4AFE-90F3-DBF72ED8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Гипотезы, критерии успеха, сценарий продукта и интерфейс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9DA61-281B-4FDC-88B1-99DC3C53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8496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6A1EA9-A4A0-46E4-9501-562DA74D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6B800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F6B80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A430BC-563F-44EF-A286-E040585D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99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063F8C"/>
                </a:solidFill>
                <a:latin typeface="Georgia"/>
                <a:ea typeface="Georgia"/>
                <a:cs typeface="Georgia"/>
              </a:rPr>
              <a:t>Рожков Александр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7C0BB-41CA-4701-BF2D-F263FA1F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290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52B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52B2F"/>
                </a:solidFill>
                <a:latin typeface="Arial"/>
                <a:ea typeface="Arial"/>
                <a:cs typeface="Arial"/>
              </a:rPr>
              <a:t>DATA · BACKEND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BEEBF-8A95-4128-8F0C-E492C971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48075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Анализ 100 карточек, БД, слой фактов, API и тесты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0C27AF-CA5E-4108-94D6-76D05862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8496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A94389-E80E-495A-9AA4-E063C329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6B800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F6B80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345519-BCEE-4DB5-9723-B23B0CC2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063F8C"/>
                </a:solidFill>
                <a:latin typeface="Georgia"/>
                <a:ea typeface="Georgia"/>
                <a:cs typeface="Georgia"/>
              </a:rPr>
              <a:t>Нигматуллин Амир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73D998-6C97-4F69-A007-060B172B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102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52B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52B2F"/>
                </a:solidFill>
                <a:latin typeface="Arial"/>
                <a:ea typeface="Arial"/>
                <a:cs typeface="Arial"/>
              </a:rPr>
              <a:t>LLM ENGINEERING · FRONTEND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14A354-B224-46C6-BD9F-BACC968C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29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4 доменных агента, Groq, guardrails, заземление и UI</a:t>
            </a:r>
          </a:p>
        </p:txBody>
      </p:sp>
    </p:spTree>
    <p:extLst>
      <p:ext uri="{BB962C8B-B14F-4D97-AF65-F5344CB8AC3E}">
        <p14:creationId xmlns:p14="http://schemas.microsoft.com/office/powerpoint/2010/main" val="283657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A7983-01B3-4172-BEF3-F783E23B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666750" y="4000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0A6EA-A3F4-4EB3-BB8F-65B57E1C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800100" y="342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2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ader-3">
            <a:extLst xmlns:a="http://schemas.openxmlformats.org/drawingml/2006/main">
              <a:ext uri="{FF2B5EF4-FFF2-40B4-BE49-F238E27FC236}">
                <a16:creationId xmlns:a16="http://schemas.microsoft.com/office/drawing/2014/main" id="{FA24EE7F-8858-4CC3-81F6-0024C29B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63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3F8C"/>
                </a:solidFill>
                <a:latin typeface="Arial"/>
                <a:ea typeface="Arial"/>
                <a:cs typeface="Arial"/>
              </a:rPr>
              <a:t>КОНТРАГЕНТУРА · ПРОМЕЖУТОЧНАЯ ВЕРСИЯ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A3CFF-ED95-46A4-9534-A9F53085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71500" cy="285750"/>
          </a:xfrm>
          <a:prstGeom xmlns:a="http://schemas.openxmlformats.org/drawingml/2006/main" prst="roundRect">
            <a:avLst>
              <a:gd name="adj" fmla="val 46667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17171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2EC29-9F4F-4989-B2D2-552D3B2D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2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3065E2F6-FDA9-44E3-B0B0-8D83E032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latin typeface="Georgia"/>
                <a:ea typeface="Georgia"/>
                <a:cs typeface="Georgia"/>
              </a:rPr>
              <a:t>Развёрнутый отчёт создаёт перегрузку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7BC9C-A817-42A3-99BD-336387BC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latin typeface="Arial"/>
                <a:ea typeface="Arial"/>
                <a:cs typeface="Arial"/>
              </a:rPr>
              <a:t>Десятки оценок и пояснений трудно сопоставить — главное теряется в деталях.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63BAD-E8F3-4B63-9246-3FA8A105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5267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400" b="1">
                <a:solidFill>
                  <a:srgbClr val="E52B2F"/>
                </a:solidFill>
                <a:latin typeface="Georgia"/>
                <a:ea typeface="Georgia"/>
                <a:cs typeface="Georgia"/>
              </a:defRPr>
            </a:pPr>
            <a:r>
              <a:rPr sz="5400" b="1">
                <a:latin typeface="Georgia"/>
                <a:ea typeface="Georgia"/>
                <a:cs typeface="Georgia"/>
              </a:rPr>
              <a:t>МНОГО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CF49E-113B-4181-8C99-373B8F6D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latin typeface="Arial"/>
                <a:ea typeface="Arial"/>
                <a:cs typeface="Arial"/>
              </a:rPr>
              <a:t>оценок, разделов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latin typeface="Arial"/>
                <a:ea typeface="Arial"/>
                <a:cs typeface="Arial"/>
              </a:rPr>
              <a:t>и пояснений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84FC0-0863-479B-8048-C2952D36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24100"/>
            <a:ext cx="285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A39B8-3EC4-4C04-B1B6-E041A13B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5267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4950" b="1">
                <a:latin typeface="Georgia"/>
                <a:ea typeface="Georgia"/>
                <a:cs typeface="Georgia"/>
              </a:rPr>
              <a:t>ДОЛГО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5FFB9-153A-49B6-887C-15525C15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670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latin typeface="Arial"/>
                <a:ea typeface="Arial"/>
                <a:cs typeface="Arial"/>
              </a:rPr>
              <a:t>читать и сопоставлять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latin typeface="Arial"/>
                <a:ea typeface="Arial"/>
                <a:cs typeface="Arial"/>
              </a:rPr>
              <a:t>вручную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91357-A6D8-483B-8699-23A6681E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285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BB7F3-B418-4E59-97D0-65780EEF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5267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4500" b="1">
                <a:latin typeface="Georgia"/>
                <a:ea typeface="Georgia"/>
                <a:cs typeface="Georgia"/>
              </a:rPr>
              <a:t>СЛОЖНО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1FD43-05D0-4F94-AEE7-B82CF8F5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670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latin typeface="Arial"/>
                <a:ea typeface="Arial"/>
                <a:cs typeface="Arial"/>
              </a:rPr>
              <a:t>выделить главное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latin typeface="Arial"/>
                <a:ea typeface="Arial"/>
                <a:cs typeface="Arial"/>
              </a:rPr>
              <a:t>и принять решение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F2E8D-F7E7-4729-9ED6-94DE3FB6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7CF2E-6711-4A79-9D33-79B7F71C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14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2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01F15-3CD6-4FE0-8409-3D282AC7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latin typeface="Georgia"/>
                <a:ea typeface="Georgia"/>
                <a:cs typeface="Georgia"/>
              </a:rPr>
              <a:t>Агенты суммаризируют отчёт и выделяют главное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5E9F11-B92D-43A7-B4FA-733B3D2A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8167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6B8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latin typeface="Arial"/>
                <a:ea typeface="Arial"/>
                <a:cs typeface="Arial"/>
              </a:rPr>
              <a:t>короткий вывод · ключевые риски · доказательства по запросу</a:t>
            </a:r>
          </a:p>
        </p:txBody>
      </p:sp>
    </p:spTree>
    <p:extLst>
      <p:ext uri="{BB962C8B-B14F-4D97-AF65-F5344CB8AC3E}">
        <p14:creationId xmlns:p14="http://schemas.microsoft.com/office/powerpoint/2010/main" val="5733963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EA7B1-49E9-43B6-8501-9209BFFC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666750" y="4000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1DD3C-6EB7-4ABF-834F-72BFC1E7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800100" y="342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ader-4">
            <a:extLst xmlns:a="http://schemas.openxmlformats.org/drawingml/2006/main">
              <a:ext uri="{FF2B5EF4-FFF2-40B4-BE49-F238E27FC236}">
                <a16:creationId xmlns:a16="http://schemas.microsoft.com/office/drawing/2014/main" id="{8576115C-5E29-44C4-B55D-28ACB923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63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3F8C"/>
                </a:solidFill>
                <a:latin typeface="Arial"/>
                <a:ea typeface="Arial"/>
                <a:cs typeface="Arial"/>
              </a:rPr>
              <a:t>КОНТРАГЕНТУРА · ПРОМЕЖУТОЧНАЯ ВЕРСИЯ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9C795-DEAD-4E25-BD37-9366176E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71500" cy="285750"/>
          </a:xfrm>
          <a:prstGeom xmlns:a="http://schemas.openxmlformats.org/drawingml/2006/main" prst="roundRect">
            <a:avLst>
              <a:gd name="adj" fmla="val 46667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17171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12A55-03C9-4CD6-9A39-3908A238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ypotheses-title">
            <a:extLst xmlns:a="http://schemas.openxmlformats.org/drawingml/2006/main">
              <a:ext uri="{FF2B5EF4-FFF2-40B4-BE49-F238E27FC236}">
                <a16:creationId xmlns:a16="http://schemas.microsoft.com/office/drawing/2014/main" id="{2277A69D-2197-4D88-A59F-A870FA9E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75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latin typeface="Georgia"/>
                <a:ea typeface="Georgia"/>
                <a:cs typeface="Georgia"/>
              </a:rPr>
              <a:t>Гипотеза: суммаризация отчёта ускорит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375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latin typeface="Georgia"/>
                <a:ea typeface="Georgia"/>
                <a:cs typeface="Georgia"/>
              </a:rPr>
              <a:t>и упростит процесс принятия решения пользователем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B4E0D-85ED-4A7A-9784-46006C25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52B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latin typeface="Arial"/>
                <a:ea typeface="Arial"/>
                <a:cs typeface="Arial"/>
              </a:rPr>
              <a:t>ИСХОДНЫЙ ОТЧЁТ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89125-5FB6-491F-A31E-7467935A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latin typeface="Arial"/>
                <a:ea typeface="Arial"/>
                <a:cs typeface="Arial"/>
              </a:rPr>
              <a:t>Много данных → высокая нагрузка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C990E-4086-4187-A8E4-35A1E563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09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2B2F"/>
          </a:solidFill>
          <a:ln xmlns:a="http://schemas.openxmlformats.org/drawingml/2006/main" w="9525">
            <a:solidFill>
              <a:srgbClr val="E52B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4A352-EEE7-441E-B439-8E248DAC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52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63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latin typeface="Arial"/>
                <a:ea typeface="Arial"/>
                <a:cs typeface="Arial"/>
              </a:rPr>
              <a:t>АГЕНТНОЕ САММАРИ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79AB6-189B-4717-9DE8-D134D40A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63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latin typeface="Arial"/>
                <a:ea typeface="Arial"/>
                <a:cs typeface="Arial"/>
              </a:rPr>
              <a:t>Главное → доказательства → выбор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A4202-7231-401B-A766-D9A00251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AA44E-7AE7-4AB3-8FF4-0DFE3CC3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6B800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6B80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4888D-0614-48D6-8BFD-DD088EB4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latin typeface="Georgia"/>
                <a:ea typeface="Georgia"/>
                <a:cs typeface="Georgia"/>
              </a:rPr>
              <a:t>Итоговый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latin typeface="Georgia"/>
                <a:ea typeface="Georgia"/>
                <a:cs typeface="Georgia"/>
              </a:rPr>
              <a:t>вывод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E3572-1FA2-4B78-BD3F-BD3E098C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Наглядный ответ агента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на первом экране.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9B908-E2E4-4A4D-8FF5-052C6634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76625"/>
            <a:ext cx="190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2B077-1DB7-4642-81E3-210124AA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E52B2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E52B2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4072D-644F-4BB2-8B13-9AE1E204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576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latin typeface="Georgia"/>
                <a:ea typeface="Georgia"/>
                <a:cs typeface="Georgia"/>
              </a:rPr>
              <a:t>Банк + 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90DBF-0278-4BE3-BF46-6AD295B3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24400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Строгие оценки банка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+ дополнительные факторы LLM.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192CC-267E-426E-A212-86687344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76625"/>
            <a:ext cx="190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2F5804-FC75-431B-B564-B497A6C6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909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6B800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6B80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73D55-F4CF-4F03-8B37-C0E23916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576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latin typeface="Georgia"/>
                <a:ea typeface="Georgia"/>
                <a:cs typeface="Georgia"/>
              </a:rPr>
              <a:t>Риски по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latin typeface="Georgia"/>
                <a:ea typeface="Georgia"/>
                <a:cs typeface="Georgia"/>
              </a:rPr>
              <a:t>доменам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C10A8C-F79B-4BA6-863E-D5403AD2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24400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Каждый риск —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с доказательствами.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97BF8A-9448-450A-9769-AC9EFBE8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76625"/>
            <a:ext cx="190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13FFF2-E51B-460A-A580-CD367DD3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6B800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6B800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A406BA-7A90-40F5-9580-F0D26F0F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576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latin typeface="Georgia"/>
                <a:ea typeface="Georgia"/>
                <a:cs typeface="Georgia"/>
              </a:rPr>
              <a:t>Сравнение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latin typeface="Georgia"/>
                <a:ea typeface="Georgia"/>
                <a:cs typeface="Georgia"/>
              </a:rPr>
              <a:t>контрагентов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8E7684-2EFB-40A5-A967-3E758302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24400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Помогает выбрать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между вариантами.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A54DD9-226C-4648-9FCF-F8C72CBD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2B740B-29E1-48EC-B5E2-69A43CFB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latin typeface="Arial"/>
                <a:ea typeface="Arial"/>
                <a:cs typeface="Arial"/>
              </a:rPr>
              <a:t>Быстрее понять главное · проверить доказательства · сравнить варианты</a:t>
            </a:r>
          </a:p>
        </p:txBody>
      </p:sp>
    </p:spTree>
    <p:extLst>
      <p:ext uri="{BB962C8B-B14F-4D97-AF65-F5344CB8AC3E}">
        <p14:creationId xmlns:p14="http://schemas.microsoft.com/office/powerpoint/2010/main" val="7920906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198B5B-D2E1-4048-88D4-C324CAE4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666750" y="4000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54865-8D44-4EAF-B08C-99C36665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800100" y="342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ader-5">
            <a:extLst xmlns:a="http://schemas.openxmlformats.org/drawingml/2006/main">
              <a:ext uri="{FF2B5EF4-FFF2-40B4-BE49-F238E27FC236}">
                <a16:creationId xmlns:a16="http://schemas.microsoft.com/office/drawing/2014/main" id="{5B8E27B0-3C19-43DF-9A2B-8B65F092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63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3F8C"/>
                </a:solidFill>
                <a:latin typeface="Arial"/>
                <a:ea typeface="Arial"/>
                <a:cs typeface="Arial"/>
              </a:rPr>
              <a:t>КОНТРАГЕНТУРА · ПРОМЕЖУТОЧНАЯ ВЕРСИЯ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427BE-57CD-4AF6-8517-7AB6DAC2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71500" cy="285750"/>
          </a:xfrm>
          <a:prstGeom xmlns:a="http://schemas.openxmlformats.org/drawingml/2006/main" prst="roundRect">
            <a:avLst>
              <a:gd name="adj" fmla="val 46667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17171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5C36C-BCC9-4723-A8C4-FC74BF7B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7A0F930E-C992-4D62-8D5B-06EAEA59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75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latin typeface="Georgia"/>
                <a:ea typeface="Georgia"/>
                <a:cs typeface="Georgia"/>
              </a:rPr>
              <a:t>От отчёта — к проверенному ответу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CC928-C099-4B92-AC6E-F3F1AD73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latin typeface="Arial"/>
                <a:ea typeface="Arial"/>
                <a:cs typeface="Arial"/>
              </a:rPr>
              <a:t>Четыре этапа одного анализа по ИНН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9920B-8C82-4EB4-83DA-7B32B26C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52775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B800"/>
          </a:solidFill>
          <a:ln xmlns:a="http://schemas.openxmlformats.org/drawingml/2006/main" w="9525">
            <a:solidFill>
              <a:srgbClr val="F6B8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25390-508C-4EA7-8D2E-FD79B835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52775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B800"/>
          </a:solidFill>
          <a:ln xmlns:a="http://schemas.openxmlformats.org/drawingml/2006/main" w="9525">
            <a:solidFill>
              <a:srgbClr val="F6B8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4B391-DDF3-4E52-9661-B64C61B2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152775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2B2F"/>
          </a:solidFill>
          <a:ln xmlns:a="http://schemas.openxmlformats.org/drawingml/2006/main" w="9525">
            <a:solidFill>
              <a:srgbClr val="E52B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AF103-D2E2-420E-A788-09891539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28800" cy="2333625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063F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8DE8A-5259-4F4D-B03A-6F89A9C7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6B800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6B80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91EC5-5F12-4EAA-8E8E-3E77EB82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52B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latin typeface="Arial"/>
                <a:ea typeface="Arial"/>
                <a:cs typeface="Arial"/>
              </a:rPr>
              <a:t>ОТЧЁТ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1B0B4-016D-42E6-92D6-87B1947C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1409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latin typeface="Georgia"/>
                <a:ea typeface="Georgia"/>
                <a:cs typeface="Georgia"/>
              </a:rPr>
              <a:t>Получаем отчёт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3CD69-8C32-4759-BCA5-6FF61326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81250"/>
            <a:ext cx="2057400" cy="233362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63F8C"/>
          </a:solidFill>
          <a:ln xmlns:a="http://schemas.openxmlformats.org/drawingml/2006/main" w="19050">
            <a:solidFill>
              <a:srgbClr val="063F8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34455-E615-45AD-969A-67B4D30F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6B800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6B80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EC94F-07BE-433E-86AA-485F3921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670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868AC-053F-4547-ACCE-76841C59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90900"/>
            <a:ext cx="1638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latin typeface="Georgia"/>
                <a:ea typeface="Georgia"/>
                <a:cs typeface="Georgia"/>
              </a:rPr>
              <a:t>Код выделяет факты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9DF18-118A-4F2F-9EF2-84377368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26098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169F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8D0C0-761B-4F6D-B634-B12812B9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6B800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6B80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9817A-A10F-4E49-9F6B-7B5CF16F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67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52B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CC228-6AF3-42A1-8F89-F576BC7F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90900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latin typeface="Georgia"/>
                <a:ea typeface="Georgia"/>
                <a:cs typeface="Georgia"/>
              </a:rPr>
              <a:t>4 агента анализируют блоки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E109B6-F5F0-4459-B062-7EB1EDC4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81250"/>
            <a:ext cx="2181225" cy="2333625"/>
          </a:xfrm>
          <a:prstGeom xmlns:a="http://schemas.openxmlformats.org/drawingml/2006/main" prst="roundRect">
            <a:avLst>
              <a:gd name="adj" fmla="val 6987"/>
            </a:avLst>
          </a:prstGeom>
          <a:solidFill xmlns:a="http://schemas.openxmlformats.org/drawingml/2006/main">
            <a:srgbClr val="FCECED"/>
          </a:solidFill>
          <a:ln xmlns:a="http://schemas.openxmlformats.org/drawingml/2006/main" w="19050">
            <a:solidFill>
              <a:srgbClr val="E52B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D5F4F6-6A16-4992-816E-B7B0877B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5717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6B800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6B800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2E3EFB-20CF-4250-8352-A4F048D6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067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52B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latin typeface="Arial"/>
                <a:ea typeface="Arial"/>
                <a:cs typeface="Arial"/>
              </a:rPr>
              <a:t>ИТОГ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F6F285-CE9F-472D-A5E0-043373CB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390900"/>
            <a:ext cx="1762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latin typeface="Georgia"/>
                <a:ea typeface="Georgia"/>
                <a:cs typeface="Georgia"/>
              </a:rPr>
              <a:t>Собираем проверенный итог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783BE7-0093-46F0-A598-9AAD2207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latin typeface="Georgia"/>
                <a:ea typeface="Georgia"/>
                <a:cs typeface="Georgia"/>
              </a:rPr>
              <a:t>Код выделяет факты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204DC-A69A-4844-9C86-2BD787DF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219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69FD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latin typeface="Georgia"/>
                <a:ea typeface="Georgia"/>
                <a:cs typeface="Georgia"/>
              </a:rPr>
              <a:t>LLM объясняет смысл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35ACA7-C1EF-49B3-A70F-3AB0B9A2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4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E52B2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latin typeface="Georgia"/>
                <a:ea typeface="Georgia"/>
                <a:cs typeface="Georgia"/>
              </a:rPr>
              <a:t>Ответ сверяется с источником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C490EF-F151-42B6-B00A-EC9A81B2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3FC0F4-8526-439A-B0ED-368F9AD0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470"/>
                </a:solidFill>
                <a:latin typeface="Arial"/>
                <a:ea typeface="Arial"/>
                <a:cs typeface="Arial"/>
              </a:rPr>
              <a:t>PostgreSQL 16  ·  Python / FastAPI  ·  Groq  ·  REST API / Swagger</a:t>
            </a:r>
          </a:p>
        </p:txBody>
      </p:sp>
    </p:spTree>
    <p:extLst>
      <p:ext uri="{BB962C8B-B14F-4D97-AF65-F5344CB8AC3E}">
        <p14:creationId xmlns:p14="http://schemas.microsoft.com/office/powerpoint/2010/main" val="6974288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2DA804-BC2A-4150-9DCE-E4742247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666750" y="4000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B859E-0D86-417E-9AFE-A353D3D5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800100" y="342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2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ader-6">
            <a:extLst xmlns:a="http://schemas.openxmlformats.org/drawingml/2006/main">
              <a:ext uri="{FF2B5EF4-FFF2-40B4-BE49-F238E27FC236}">
                <a16:creationId xmlns:a16="http://schemas.microsoft.com/office/drawing/2014/main" id="{FB113D1F-E78C-46B5-A409-FD54CF0A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63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3F8C"/>
                </a:solidFill>
                <a:latin typeface="Arial"/>
                <a:ea typeface="Arial"/>
                <a:cs typeface="Arial"/>
              </a:rPr>
              <a:t>КОНТРАГЕНТУРА · ПРОМЕЖУТОЧНАЯ ВЕРСИЯ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8BD55-1B35-4557-8D81-525C8C55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71500" cy="285750"/>
          </a:xfrm>
          <a:prstGeom xmlns:a="http://schemas.openxmlformats.org/drawingml/2006/main" prst="roundRect">
            <a:avLst>
              <a:gd name="adj" fmla="val 46667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17171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58359-6732-4F74-8E30-1B62449A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2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gress-title">
            <a:extLst xmlns:a="http://schemas.openxmlformats.org/drawingml/2006/main">
              <a:ext uri="{FF2B5EF4-FFF2-40B4-BE49-F238E27FC236}">
                <a16:creationId xmlns:a16="http://schemas.microsoft.com/office/drawing/2014/main" id="{E96FD042-EF8A-4518-9420-CC6AD8F6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latin typeface="Georgia"/>
                <a:ea typeface="Georgia"/>
                <a:cs typeface="Georgia"/>
              </a:rPr>
              <a:t>Прототип уже работает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7F153-AC74-4A91-8574-F4CD7942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428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063F8C"/>
                </a:solidFill>
                <a:latin typeface="Georgia"/>
                <a:ea typeface="Georgia"/>
                <a:cs typeface="Georgia"/>
              </a:rPr>
              <a:t>100 /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D6D18-BB22-484D-8D1C-532138A7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22479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успешных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API-проходов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70919-686B-4DE2-8A68-6416899E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09800"/>
            <a:ext cx="19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C9501-D1A3-4083-AA01-7B9A8E36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2428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063F8C"/>
                </a:solidFill>
                <a:latin typeface="Georgia"/>
                <a:ea typeface="Georgia"/>
                <a:cs typeface="Georgia"/>
              </a:rPr>
              <a:t>1 352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38078-867F-459E-A639-624774DC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24175"/>
            <a:ext cx="22479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утверждения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 контрольном прогоне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2869C-B50B-4D4B-B24C-857002BE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09800"/>
            <a:ext cx="19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E440F-A4D2-450B-9A96-96425F39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428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E52B2F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E52B2F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80421-678F-463B-B107-0530D79D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24175"/>
            <a:ext cx="22479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ссылок на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несуществующие факты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F2D4A-DA2A-42BC-9DF4-FAD8C0EF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09800"/>
            <a:ext cx="19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7DD2A-90C5-4093-91B9-BAEA28C5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428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063F8C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063F8C"/>
                </a:solidFill>
                <a:latin typeface="Georgia"/>
                <a:ea typeface="Georgia"/>
                <a:cs typeface="Georgia"/>
              </a:rPr>
              <a:t>≈ 5 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A5ADB-32A4-4042-8212-85A5A5FA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24175"/>
            <a:ext cx="22479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живой проход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 одному ИНН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834B6-7D95-4182-9858-94650584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B46AD-B74F-42E6-BEDC-7FE17620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52B2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52B2F"/>
                </a:solidFill>
                <a:latin typeface="Arial"/>
                <a:ea typeface="Arial"/>
                <a:cs typeface="Arial"/>
              </a:rPr>
              <a:t>ДО ФИНАЛЬНОЙ ЗАЩИТЫ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7A9549-361C-43CF-8C9C-FCD9903D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63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3F8C"/>
                </a:solidFill>
                <a:latin typeface="Arial"/>
                <a:ea typeface="Arial"/>
                <a:cs typeface="Arial"/>
              </a:rPr>
              <a:t>04–05.09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B147A8-47D2-4054-90EA-E7953D39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Диалог + банк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из 30 вопросов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CA68D-EC23-465E-95E7-A2F0E033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57775"/>
            <a:ext cx="495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B800"/>
          </a:solidFill>
          <a:ln xmlns:a="http://schemas.openxmlformats.org/drawingml/2006/main" w="9525">
            <a:solidFill>
              <a:srgbClr val="F6B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25D42C-E855-4CEC-B343-0796F92C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95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63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3F8C"/>
                </a:solidFill>
                <a:latin typeface="Arial"/>
                <a:ea typeface="Arial"/>
                <a:cs typeface="Arial"/>
              </a:rPr>
              <a:t>05–06.09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0C241-A2DD-44FA-8E0E-27ABD523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387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Сравнение ИНН +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разметка 50 утверждений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9A50-4838-4579-B766-9C9A84EB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57775"/>
            <a:ext cx="495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B800"/>
          </a:solidFill>
          <a:ln xmlns:a="http://schemas.openxmlformats.org/drawingml/2006/main" w="9525">
            <a:solidFill>
              <a:srgbClr val="F6B8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E8DF44-6651-40B1-BB7F-09386743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95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63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3F8C"/>
                </a:solidFill>
                <a:latin typeface="Arial"/>
                <a:ea typeface="Arial"/>
                <a:cs typeface="Arial"/>
              </a:rPr>
              <a:t>06.09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1A1E19-6C24-4BAA-B087-E16ED5E9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387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Сценарии приёмки +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полировка демо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BDE02C-9C49-4184-BFD3-5B5263DB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2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0A12B7-8D14-48A7-9109-DD5FA94A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769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Открытый риск: серия запусков на бесплатном лимите Groq может занять 30–60 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ED78BF-F620-4C6C-9A6B-1B15B65D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0769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FFF5C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5CD"/>
                </a:solidFill>
                <a:latin typeface="Arial"/>
                <a:ea typeface="Arial"/>
                <a:cs typeface="Arial"/>
              </a:rPr>
              <a:t>переключение между моделями уже реализовано</a:t>
            </a:r>
          </a:p>
        </p:txBody>
      </p:sp>
    </p:spTree>
    <p:extLst>
      <p:ext uri="{BB962C8B-B14F-4D97-AF65-F5344CB8AC3E}">
        <p14:creationId xmlns:p14="http://schemas.microsoft.com/office/powerpoint/2010/main" val="1678287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2026-09-04T06:34:47.2270000Z</dcterms:created>
  <dcterms:modified xsi:type="dcterms:W3CDTF">2026-09-04T06:34:47.2270000Z</dcterms:modified>
</coreProperties>
</file>