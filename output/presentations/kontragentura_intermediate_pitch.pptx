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311ec3af554ca8" /><Relationship Type="http://schemas.openxmlformats.org/officeDocument/2006/relationships/extended-properties" Target="/docProps/app.xml" Id="Rf90a1c5c040b4a82" /><Relationship Type="http://schemas.openxmlformats.org/officeDocument/2006/relationships/officeDocument" Target="/ppt/presentation.xml" Id="Ra9283b50b9444f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14b570ad80483b"/>
  </p:sldMasterIdLst>
  <p:notesMasterIdLst>
    <p:notesMasterId xmlns:r="http://schemas.openxmlformats.org/officeDocument/2006/relationships" r:id="R83c00fa652f84dea"/>
  </p:notesMasterIdLst>
  <p:sldIdLst>
    <p:sldId xmlns:r="http://schemas.openxmlformats.org/officeDocument/2006/relationships" id="256" r:id="Ree1ef8b3adc443b7"/>
    <p:sldId xmlns:r="http://schemas.openxmlformats.org/officeDocument/2006/relationships" id="257" r:id="Rf419702377914942"/>
    <p:sldId xmlns:r="http://schemas.openxmlformats.org/officeDocument/2006/relationships" id="258" r:id="R5fe62c4dd75a4001"/>
    <p:sldId xmlns:r="http://schemas.openxmlformats.org/officeDocument/2006/relationships" id="259" r:id="R795aa05c9a324e8d"/>
    <p:sldId xmlns:r="http://schemas.openxmlformats.org/officeDocument/2006/relationships" id="260" r:id="R8f890ef9a23e4e2e"/>
    <p:sldId xmlns:r="http://schemas.openxmlformats.org/officeDocument/2006/relationships" id="261" r:id="R312e76b9ed7c4d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bdcfb1c0f64fec" /><Relationship Type="http://schemas.openxmlformats.org/officeDocument/2006/relationships/slideMaster" Target="/ppt/slideMasters/slideMaster1.xml" Id="R8614b570ad80483b" /><Relationship Type="http://schemas.openxmlformats.org/officeDocument/2006/relationships/notesMaster" Target="/ppt/notesMasters/notesMaster1.xml" Id="R83c00fa652f84dea" /><Relationship Type="http://schemas.openxmlformats.org/officeDocument/2006/relationships/presProps" Target="/ppt/presProps.xml" Id="Rc5812ba1f3384b89" /><Relationship Type="http://schemas.openxmlformats.org/officeDocument/2006/relationships/tableStyles" Target="/ppt/tableStyles.xml" Id="R872359aabd1746e6" /><Relationship Type="http://schemas.openxmlformats.org/officeDocument/2006/relationships/slide" Target="/ppt/slides/slide1.xml" Id="Ree1ef8b3adc443b7" /><Relationship Type="http://schemas.openxmlformats.org/officeDocument/2006/relationships/slide" Target="/ppt/slides/slide2.xml" Id="Rf419702377914942" /><Relationship Type="http://schemas.openxmlformats.org/officeDocument/2006/relationships/slide" Target="/ppt/slides/slide3.xml" Id="R5fe62c4dd75a4001" /><Relationship Type="http://schemas.openxmlformats.org/officeDocument/2006/relationships/slide" Target="/ppt/slides/slide4.xml" Id="R795aa05c9a324e8d" /><Relationship Type="http://schemas.openxmlformats.org/officeDocument/2006/relationships/slide" Target="/ppt/slides/slide5.xml" Id="R8f890ef9a23e4e2e" /><Relationship Type="http://schemas.openxmlformats.org/officeDocument/2006/relationships/slide" Target="/ppt/slides/slide6.xml" Id="R312e76b9ed7c4d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20ed3bb1c14f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0c16a19dea490b" /><Relationship Type="http://schemas.openxmlformats.org/officeDocument/2006/relationships/notesMaster" Target="/ppt/notesMasters/notesMaster1.xml" Id="Rbaa7339b7b9f4c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737b4d12d74a55" /><Relationship Type="http://schemas.openxmlformats.org/officeDocument/2006/relationships/notesMaster" Target="/ppt/notesMasters/notesMaster1.xml" Id="R716d59a4f5d44d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b1f28c1f254bc4" /><Relationship Type="http://schemas.openxmlformats.org/officeDocument/2006/relationships/notesMaster" Target="/ppt/notesMasters/notesMaster1.xml" Id="R3d5aa912b42747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07669e7fed4097" /><Relationship Type="http://schemas.openxmlformats.org/officeDocument/2006/relationships/notesMaster" Target="/ppt/notesMasters/notesMaster1.xml" Id="Rc078c7207a994c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11165bcf0c45c2" /><Relationship Type="http://schemas.openxmlformats.org/officeDocument/2006/relationships/notesMaster" Target="/ppt/notesMasters/notesMaster1.xml" Id="Rbf14ae6280b24b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35f5ff008c46bf" /><Relationship Type="http://schemas.openxmlformats.org/officeDocument/2006/relationships/notesMaster" Target="/ppt/notesMasters/notesMaster1.xml" Id="R639d1cf624f847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/Users/exoldoff/Downloads/project_description.md — аннотация проекта и название решения</a:t>
            </a:r>
          </a:p>
          <a:p xmlns:a="http://schemas.openxmlformats.org/drawingml/2006/main">
            <a:r>
              <a:t>- /Users/exoldoff/Downloads/Blue Yellow and White Modern Minimalist Pitch Deck Presentation/1.jpg — визуальный референс: бумажная фактура, крупная синяя типографика, дуги</a:t>
            </a:r>
          </a:p>
          <a:p xmlns:a="http://schemas.openxmlformats.org/drawingml/2006/main">
            <a:r>
              <a:t>- /Users/exoldoff/Downloads/Blue Yellow and White Modern Minimalist Pitch Deck Presentation/3.jpg — визуальный референс композиции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/Users/exoldoff/Downloads/project_description.md — раздел 10 «Команда и распределение задач»</a:t>
            </a:r>
          </a:p>
          <a:p xmlns:a="http://schemas.openxmlformats.org/drawingml/2006/main">
            <a:r>
              <a:t>- /Users/exoldoff/Downloads/Blue Yellow and White Modern Minimalist Pitch Deck Presentation/2.jpg — пользовательский визуальный референс композиции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/Users/exoldoff/Downloads/project_description.md — раздел 2 «Проблематика» и раздел 3 «Постановка задачи»</a:t>
            </a:r>
          </a:p>
          <a:p xmlns:a="http://schemas.openxmlformats.org/drawingml/2006/main">
            <a:r>
              <a:t>- /Users/exoldoff/Downloads/product_materials.md — раздел 1 «Пользователь и его проблема», наблюдения по 100 карточкам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/Users/exoldoff/Downloads/product_materials.md — раздел 2 «Продуктовая гипотеза и ценностное предложение»</a:t>
            </a:r>
          </a:p>
          <a:p xmlns:a="http://schemas.openxmlformats.org/drawingml/2006/main">
            <a:r>
              <a:t>- /Users/exoldoff/Downloads/product_materials.md — раздел 3 «Границы MVP» и раздел 4 «Основной пользовательский сценарий»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/Users/exoldoff/Downloads/project_description.md — раздел 4 «Техническое решение»</a:t>
            </a:r>
          </a:p>
          <a:p xmlns:a="http://schemas.openxmlformats.org/drawingml/2006/main">
            <a:r>
              <a:t>- /Users/exoldoff/Downloads/project_description.md — схема прохода, архитектурные решения и стек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/Users/exoldoff/Downloads/project_description.md — раздел 6 «Предварительные результаты»</a:t>
            </a:r>
          </a:p>
          <a:p xmlns:a="http://schemas.openxmlformats.org/drawingml/2006/main">
            <a:r>
              <a:t>- /Users/exoldoff/Downloads/project_description.md — раздел 7 «Ограничения текущей версии» и раздел 9 «План работ до финала»</a:t>
            </a:r>
          </a:p>
          <a:p xmlns:a="http://schemas.openxmlformats.org/drawingml/2006/main">
            <a:r>
              <a:t>- /Users/exoldoff/Downloads/product_materials.md — раздел 5 «Предварительные критерии успеха»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8471ded1c4b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8c7eda279f4024" /><Relationship Type="http://schemas.openxmlformats.org/officeDocument/2006/relationships/slideLayout" Target="/ppt/slideLayouts/slideLayout1.xml" Id="Ra65538fab9f641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5538fab9f641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3314189ddd4c7a" /><Relationship Type="http://schemas.openxmlformats.org/officeDocument/2006/relationships/notesSlide" Target="/ppt/notesSlides/notesSlide1.xml" Id="Rb87322ecf1cb44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35e05373c4910" /><Relationship Type="http://schemas.openxmlformats.org/officeDocument/2006/relationships/notesSlide" Target="/ppt/notesSlides/notesSlide2.xml" Id="R8b32ee6b466541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0adebfcda4a5b" /><Relationship Type="http://schemas.openxmlformats.org/officeDocument/2006/relationships/notesSlide" Target="/ppt/notesSlides/notesSlide3.xml" Id="Rde7dba3f31384f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c4a57b0f44843" /><Relationship Type="http://schemas.openxmlformats.org/officeDocument/2006/relationships/notesSlide" Target="/ppt/notesSlides/notesSlide4.xml" Id="Rbfccb41e45d941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7069054774cb4" /><Relationship Type="http://schemas.openxmlformats.org/officeDocument/2006/relationships/notesSlide" Target="/ppt/notesSlides/notesSlide5.xml" Id="Rd6f800182dba43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31aa0990a4f59" /><Relationship Type="http://schemas.openxmlformats.org/officeDocument/2006/relationships/notesSlide" Target="/ppt/notesSlides/notesSlide6.xml" Id="R22ee3126a5e347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D7F9F-87E5-4267-BC6B-79813418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723900" y="5524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F62955-EB64-48D3-8C23-7F5AE016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923925" y="4476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278A4-2C0D-44D9-96E5-E063F068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971550" y="6953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2BE30-5645-4F66-85A1-6B547BDD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43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КонтрАГЕНТура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50F4B2-1832-4DFD-B091-E3104983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14350"/>
            <a:ext cx="1562100" cy="400050"/>
          </a:xfrm>
          <a:prstGeom xmlns:a="http://schemas.openxmlformats.org/drawingml/2006/main" prst="roundRect">
            <a:avLst>
              <a:gd name="adj" fmla="val 4285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71717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1717"/>
                </a:solidFill>
                <a:latin typeface="Arial"/>
                <a:ea typeface="Arial"/>
                <a:cs typeface="Arial"/>
              </a:rPr>
              <a:t>04.09.2026</a:t>
            </a:r>
          </a:p>
        </p:txBody>
      </p:sp>
      <p:sp>
        <p:nvSpPr>
          <p:cNvPr id="6" name="deck-title-1">
            <a:extLst xmlns:a="http://schemas.openxmlformats.org/drawingml/2006/main">
              <a:ext uri="{FF2B5EF4-FFF2-40B4-BE49-F238E27FC236}">
                <a16:creationId xmlns:a16="http://schemas.microsoft.com/office/drawing/2014/main" id="{283E9992-F586-490C-84A7-E2EF1C95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71700"/>
            <a:ext cx="9620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4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54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Система проверки</a:t>
            </a:r>
          </a:p>
        </p:txBody>
      </p:sp>
      <p:sp>
        <p:nvSpPr>
          <p:cNvPr id="7" name="deck-title-2">
            <a:extLst xmlns:a="http://schemas.openxmlformats.org/drawingml/2006/main">
              <a:ext uri="{FF2B5EF4-FFF2-40B4-BE49-F238E27FC236}">
                <a16:creationId xmlns:a16="http://schemas.microsoft.com/office/drawing/2014/main" id="{BD14CE42-C88E-46C2-9E71-9936250C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7810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4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54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контрагентов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132A1-EAFA-4595-ACF6-AFBEDFA9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48125"/>
            <a:ext cx="1504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96161-072D-4934-B31A-992E94C5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ИИ-агент по ИНН · промежуточная версия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D4ED5-5D4D-49FE-8CC9-26E4A86C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F647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470"/>
                </a:solidFill>
                <a:latin typeface="Arial"/>
                <a:ea typeface="Arial"/>
                <a:cs typeface="Arial"/>
              </a:rPr>
              <a:t>КОМАНДА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7C06D0-0DC5-469C-A0E9-17D0B206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055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«КонтрАГЕНТура»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7487AB-AE43-4229-B592-64B9677E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695825"/>
            <a:ext cx="2238375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6B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418B2-679E-479B-8486-6160C3CF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10150"/>
            <a:ext cx="1362075" cy="8477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6B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80AEF-2F8B-4426-9DB7-1ADD5384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038850"/>
            <a:ext cx="5143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9525">
            <a:solidFill>
              <a:srgbClr val="063F8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896049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00F248-BE8D-419B-BD75-B0C7F7F9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666750" y="4000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57B0E-29EF-4062-9FDF-0729BA56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800100" y="342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F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eader-2">
            <a:extLst xmlns:a="http://schemas.openxmlformats.org/drawingml/2006/main">
              <a:ext uri="{FF2B5EF4-FFF2-40B4-BE49-F238E27FC236}">
                <a16:creationId xmlns:a16="http://schemas.microsoft.com/office/drawing/2014/main" id="{32736458-CE0E-4E8A-8578-A0A4F2A7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КОНТРАГЕНТУРА · ПРОМЕЖУТОЧНАЯ ВЕРСИЯ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9369B-ADC9-4615-A5CA-81452BAD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71500" cy="285750"/>
          </a:xfrm>
          <a:prstGeom xmlns:a="http://schemas.openxmlformats.org/drawingml/2006/main" prst="roundRect">
            <a:avLst>
              <a:gd name="adj" fmla="val 46667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171717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F50AE-7575-4F1C-975D-E8546CB4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F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am-title">
            <a:extLst xmlns:a="http://schemas.openxmlformats.org/drawingml/2006/main">
              <a:ext uri="{FF2B5EF4-FFF2-40B4-BE49-F238E27FC236}">
                <a16:creationId xmlns:a16="http://schemas.microsoft.com/office/drawing/2014/main" id="{76843AB1-282D-437F-B67C-D060AE31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Команда «КонтрАГЕНТура»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41B8B-C517-4579-9E3C-FA9C1AD9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F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470"/>
                </a:solidFill>
                <a:latin typeface="Arial"/>
                <a:ea typeface="Arial"/>
                <a:cs typeface="Arial"/>
              </a:rPr>
              <a:t>Три участника · зоны ответственности · активное участие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A1BCE-FEB8-47B2-A54F-AA1B97E0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76450"/>
            <a:ext cx="381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A2812-BAA4-425A-9193-57087C4F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076450"/>
            <a:ext cx="14287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30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230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05C0A-F08D-4244-8A95-FB5539DA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0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УЧАСТНИКА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B595F-C472-4DFD-9580-2C49953A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495800"/>
            <a:ext cx="180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продукт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данные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LLM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6855D9-8787-4690-8831-3A94707B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2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6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FC9551-4E88-4C5D-88FB-494E1301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288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21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Холкин Егор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F4CDCC-2F6D-4912-B515-EBB239C1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479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AI PRODUCT ·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1094EE-000D-4AFE-90F3-DBF72ED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3524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Гипотезы, критерии успеха, сценарий продукта и интерфейс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5BB5F-F322-48A5-A283-E3EFC765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71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DE636A-9448-4127-9F75-3D0524F1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145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активное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69DA61-281B-4FDC-88B1-99DC3C53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8496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6A1EA9-A4A0-46E4-9501-562DA74D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62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6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A430BC-563F-44EF-A286-E040585D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099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21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Рожков Александр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C7C0BB-41CA-4701-BF2D-F263FA1F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2907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DATA · BACKEND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DBEEBF-8A95-4128-8F0C-E492C971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48075"/>
            <a:ext cx="3524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Анализ 100 карточек, БД, слой фактов, API и тесты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0271AB-426F-48F7-8670-7029EF91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2A3BD-2C01-4018-BE4B-48FA58E3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активное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0C27AF-CA5E-4108-94D6-76D05862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8496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A94389-E80E-495A-9AA4-E063C329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2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6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345519-BCEE-4DB5-9723-B23B0CC2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91100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Нигматуллин Амир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73D998-6C97-4F69-A007-060B172B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41020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LLM ENGINEERING · 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14A354-B224-46C6-BD9F-BACC968C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29200"/>
            <a:ext cx="3524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4 доменных агента, Groq, guardrails, заземление и UI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4B806E-CF1A-45AA-88DF-F2CF285B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33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03B703-29CF-4FD8-9698-17F695BA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7682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активное</a:t>
            </a:r>
          </a:p>
        </p:txBody>
      </p:sp>
    </p:spTree>
    <p:extLst>
      <p:ext uri="{BB962C8B-B14F-4D97-AF65-F5344CB8AC3E}">
        <p14:creationId xmlns:p14="http://schemas.microsoft.com/office/powerpoint/2010/main" val="283657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A7983-01B3-4172-BEF3-F783E23B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666750" y="4000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B0A6EA-A3F4-4EB3-BB8F-65B57E1C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800100" y="342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eader-3">
            <a:extLst xmlns:a="http://schemas.openxmlformats.org/drawingml/2006/main">
              <a:ext uri="{FF2B5EF4-FFF2-40B4-BE49-F238E27FC236}">
                <a16:creationId xmlns:a16="http://schemas.microsoft.com/office/drawing/2014/main" id="{FA24EE7F-8858-4CC3-81F6-0024C29B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КОНТРАГЕНТУРА · ПРОМЕЖУТОЧНАЯ ВЕРСИЯ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A3CFF-ED95-46A4-9534-A9F53085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71500" cy="285750"/>
          </a:xfrm>
          <a:prstGeom xmlns:a="http://schemas.openxmlformats.org/drawingml/2006/main" prst="roundRect">
            <a:avLst>
              <a:gd name="adj" fmla="val 46667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171717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2EC29-9F4F-4989-B2D2-552D3B2D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3065E2F6-FDA9-44E3-B0B0-8D83E032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Зелёный сигнал не показывает всю картину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67BC9C-A817-42A3-99BD-336387BC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F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470"/>
                </a:solidFill>
                <a:latin typeface="Arial"/>
                <a:ea typeface="Arial"/>
                <a:cs typeface="Arial"/>
              </a:rPr>
              <a:t>Предприниматель видит итоговый цвет — критичные факты остаются внутри отчёта.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F63BAD-E8F3-4B63-9246-3FA8A105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52675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0" b="1">
                <a:solidFill>
                  <a:srgbClr val="E52B2F"/>
                </a:solidFill>
                <a:latin typeface="Georgia"/>
                <a:ea typeface="Georgia"/>
                <a:cs typeface="Georgia"/>
              </a:defRPr>
            </a:pPr>
            <a:r>
              <a:rPr sz="5400" b="1">
                <a:solidFill>
                  <a:srgbClr val="E52B2F"/>
                </a:solidFill>
                <a:latin typeface="Georgia"/>
                <a:ea typeface="Georgia"/>
                <a:cs typeface="Georgia"/>
              </a:rPr>
              <a:t>9 / 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CF49E-113B-4181-8C99-373B8F6D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67075"/>
            <a:ext cx="295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 блокировкой счетов ФНС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помечены GREEN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84FC0-0863-479B-8048-C2952D36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24100"/>
            <a:ext cx="2857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A39B8-3EC4-4C04-B1B6-E041A13B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52675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9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49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46 / 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5FFB9-153A-49B6-887C-15525C15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67075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готовый текст расходится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 числом кодов ОКВЭД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391357-A6D8-483B-8699-23A6681E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24100"/>
            <a:ext cx="2857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BB7F3-B418-4E59-97D0-65780EEF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52675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9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49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33 / 100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E1FD43-05D0-4F94-AEE7-B82CF8F5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67075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карточек без финансовой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отчётности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FF2E8D-F7E7-4729-9ED6-94DE3FB6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858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7CF2E-6711-4A79-9D33-79B7F71C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14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F01F15-3CD6-4FE0-8409-3D282AC7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959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Цель — дать короткий проверяемый ответ по ИНН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E9F11-B92D-43A7-B4FA-733B3D2A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81675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6B8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6B800"/>
                </a:solidFill>
                <a:latin typeface="Arial"/>
                <a:ea typeface="Arial"/>
                <a:cs typeface="Arial"/>
              </a:rPr>
              <a:t>без нового скоринга · только факты отчёта и честная неполнота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5733963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EA7B1-49E9-43B6-8501-9209BFFC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666750" y="4000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1DD3C-6EB7-4ABF-834F-72BFC1E7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800100" y="342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eader-4">
            <a:extLst xmlns:a="http://schemas.openxmlformats.org/drawingml/2006/main">
              <a:ext uri="{FF2B5EF4-FFF2-40B4-BE49-F238E27FC236}">
                <a16:creationId xmlns:a16="http://schemas.microsoft.com/office/drawing/2014/main" id="{8576115C-5E29-44C4-B55D-28ACB923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КОНТРАГЕНТУРА · ПРОМЕЖУТОЧНАЯ ВЕРСИЯ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D9C795-DEAD-4E25-BD37-9366176E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71500" cy="285750"/>
          </a:xfrm>
          <a:prstGeom xmlns:a="http://schemas.openxmlformats.org/drawingml/2006/main" prst="roundRect">
            <a:avLst>
              <a:gd name="adj" fmla="val 46667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171717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12A55-03C9-4CD6-9A39-3908A238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ypotheses-title">
            <a:extLst xmlns:a="http://schemas.openxmlformats.org/drawingml/2006/main">
              <a:ext uri="{FF2B5EF4-FFF2-40B4-BE49-F238E27FC236}">
                <a16:creationId xmlns:a16="http://schemas.microsoft.com/office/drawing/2014/main" id="{2277A69D-2197-4D88-A59F-A870FA9E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3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Гипотеза: решение принимается за один экран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B4E0D-85ED-4A7A-9784-46006C25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СЕЙЧАС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E89125-5FB6-491F-A31E-7467935A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PDF → цвет → ручная перепроверка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C990E-4086-4187-A8E4-35A1E563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209800"/>
            <a:ext cx="742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9525">
            <a:solidFill>
              <a:srgbClr val="E52B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4A352-EEE7-441E-B439-8E248DAC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526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С АГЕНТОМ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79AB6-189B-4717-9DE8-D134D40A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ИНН → ответ + факты → действие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A4202-7231-401B-A766-D9A00251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AA44E-7AE7-4AB3-8FF4-0DFE3CC3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4888D-0614-48D6-8BFD-DD088EB4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Одна фраза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E3572-1FA2-4B78-BD3F-BD3E098C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2333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Короткий вывод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 языке предпринимателя.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9B908-E2E4-4A4D-8FF5-052C6634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76625"/>
            <a:ext cx="19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82B077-1DB7-4642-81E3-210124AA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E52B2F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E52B2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14072D-644F-4BB2-8B13-9AE1E204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576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Оценка банка неизменна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390DBF-0278-4BE3-BF46-6AD295B3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724400"/>
            <a:ext cx="2333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Жёсткие факты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показываем отдельно.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1192CC-267E-426E-A212-86687344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76625"/>
            <a:ext cx="19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2F5804-FC75-431B-B564-B497A6C6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9090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173D55-F4CF-4F03-8B37-C0E23916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576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3–5 доказательств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C10A8C-F79B-4BA6-863E-D5403AD2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24400"/>
            <a:ext cx="2333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Каждое — с fact_id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 ссылкой на поле.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97BF8A-9448-450A-9769-AC9EFBE8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476625"/>
            <a:ext cx="19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13FFF2-E51B-460A-A580-CD367DD3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9090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A406BA-7A90-40F5-9580-F0D26F0F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Честное «нет данных»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8E7684-2EFB-40A5-A967-3E758302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24400"/>
            <a:ext cx="2333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Пустой блок не выглядит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как безопасный.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A54DD9-226C-4648-9FCF-F8C72CBD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F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2B740B-29E1-48EC-B5E2-69A43CFB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245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5F647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470"/>
                </a:solidFill>
                <a:latin typeface="Arial"/>
                <a:ea typeface="Arial"/>
                <a:cs typeface="Arial"/>
              </a:rPr>
              <a:t>Не считаем собственный риск · не спорим с банком · не выдаём категоричный приговор</a:t>
            </a:r>
          </a:p>
        </p:txBody>
      </p:sp>
    </p:spTree>
    <p:extLst>
      <p:ext uri="{BB962C8B-B14F-4D97-AF65-F5344CB8AC3E}">
        <p14:creationId xmlns:p14="http://schemas.microsoft.com/office/powerpoint/2010/main" val="7920906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198B5B-D2E1-4048-88D4-C324CAE4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666750" y="4000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54865-8D44-4EAF-B08C-99C36665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800100" y="342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F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eader-5">
            <a:extLst xmlns:a="http://schemas.openxmlformats.org/drawingml/2006/main">
              <a:ext uri="{FF2B5EF4-FFF2-40B4-BE49-F238E27FC236}">
                <a16:creationId xmlns:a16="http://schemas.microsoft.com/office/drawing/2014/main" id="{5B8E27B0-3C19-43DF-9A2B-8B65F092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КОНТРАГЕНТУРА · ПРОМЕЖУТОЧНАЯ ВЕРСИЯ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427BE-57CD-4AF6-8517-7AB6DAC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71500" cy="285750"/>
          </a:xfrm>
          <a:prstGeom xmlns:a="http://schemas.openxmlformats.org/drawingml/2006/main" prst="roundRect">
            <a:avLst>
              <a:gd name="adj" fmla="val 46667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171717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5C36C-BCC9-4723-A8C4-FC74BF7B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F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rchitecture-title">
            <a:extLst xmlns:a="http://schemas.openxmlformats.org/drawingml/2006/main">
              <a:ext uri="{FF2B5EF4-FFF2-40B4-BE49-F238E27FC236}">
                <a16:creationId xmlns:a16="http://schemas.microsoft.com/office/drawing/2014/main" id="{7A0F930E-C992-4D62-8D5B-06EAEA59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3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LLM объясняет — код считает и проверяет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CC928-C099-4B92-AC6E-F3F1AD73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F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470"/>
                </a:solidFill>
                <a:latin typeface="Arial"/>
                <a:ea typeface="Arial"/>
                <a:cs typeface="Arial"/>
              </a:rPr>
              <a:t>Архитектура одного прохода по ИНН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59920B-8C82-4EB4-83DA-7B32B26C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1527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9525">
            <a:solidFill>
              <a:srgbClr val="F6B8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25390-508C-4EA7-8D2E-FD79B835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527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9525">
            <a:solidFill>
              <a:srgbClr val="F6B8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4B391-DDF3-4E52-9661-B64C61B2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1527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9525">
            <a:solidFill>
              <a:srgbClr val="E52B2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AF103-D2E2-420E-A788-09891539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828800" cy="2333625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BFAF6"/>
          </a:solidFill>
          <a:ln xmlns:a="http://schemas.openxmlformats.org/drawingml/2006/main" w="19050">
            <a:solidFill>
              <a:srgbClr val="063F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D8DE8A-5259-4F4D-B03A-6F89A9C7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491EC5-5F12-4EAA-8E8E-3E77EB82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670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1B0B4-016D-42E6-92D6-87B1947C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409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ИНН → карточка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FBDDC-F8EC-477B-B880-B4CF4AB2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1409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1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Последний снапшот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в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3CD69-8C32-4759-BCA5-6FF61326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81250"/>
            <a:ext cx="2057400" cy="2333625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63F8C"/>
          </a:solidFill>
          <a:ln xmlns:a="http://schemas.openxmlformats.org/drawingml/2006/main" w="19050">
            <a:solidFill>
              <a:srgbClr val="063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A34455-E615-45AD-969A-67B4D30F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FEC94F-07BE-433E-86AA-485F3921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1638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ФАКТЫ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C868AC-053F-4547-ACCE-76841C59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29000"/>
            <a:ext cx="1638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Расчёты кодом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AEADDC-8EC2-438C-A442-2D63761C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1638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блока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fact_id + field_ref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29DF18-118A-4F2F-9EF2-84377368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81250"/>
            <a:ext cx="2609850" cy="2333625"/>
          </a:xfrm>
          <a:prstGeom xmlns:a="http://schemas.openxmlformats.org/drawingml/2006/main" prst="roundRect">
            <a:avLst>
              <a:gd name="adj" fmla="val 653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9050">
            <a:solidFill>
              <a:srgbClr val="169F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08D0C0-761B-4F6D-B634-B12812B9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19817A-A10F-4E49-9F6B-7B5CF16F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670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ИИ-АНАЛИЗ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2CC228-6AF3-42A1-8F89-F576BC7F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290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4 агента параллельно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FD0CEB-97C8-47CA-85D9-D8EEFAB8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5765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Кто это · риски · финансы · опыт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→ Summary-LLM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E109B6-F5F0-4459-B062-7EB1EDC4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81250"/>
            <a:ext cx="2181225" cy="2333625"/>
          </a:xfrm>
          <a:prstGeom xmlns:a="http://schemas.openxmlformats.org/drawingml/2006/main" prst="roundRect">
            <a:avLst>
              <a:gd name="adj" fmla="val 6987"/>
            </a:avLst>
          </a:prstGeom>
          <a:solidFill xmlns:a="http://schemas.openxmlformats.org/drawingml/2006/main">
            <a:srgbClr val="FCECED"/>
          </a:solidFill>
          <a:ln xmlns:a="http://schemas.openxmlformats.org/drawingml/2006/main" w="19050">
            <a:solidFill>
              <a:srgbClr val="E52B2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D5F4F6-6A16-4992-816E-B7B0877B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5717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6B800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6B800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2E3EFB-20CF-4250-8352-A4F048D6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067050"/>
            <a:ext cx="1762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КОНТРОЛЬ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F6F285-CE9F-472D-A5E0-043373CB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429000"/>
            <a:ext cx="1762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Сверка fact_id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0DD660-148C-4A52-A27C-86875CAF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057650"/>
            <a:ext cx="1762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guardrails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→ API и экран отчёта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783BE7-0093-46F0-A598-9AAD2207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Код создаёт факт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E204DC-A69A-4844-9C86-2BD787DF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219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69FDA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69FDA"/>
                </a:solidFill>
                <a:latin typeface="Georgia"/>
                <a:ea typeface="Georgia"/>
                <a:cs typeface="Georgia"/>
              </a:rPr>
              <a:t>LLM только объясняет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35ACA7-C1EF-49B3-A70F-3AB0B9A2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52B2F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E52B2F"/>
                </a:solidFill>
                <a:latin typeface="Georgia"/>
                <a:ea typeface="Georgia"/>
                <a:cs typeface="Georgia"/>
              </a:rPr>
              <a:t>Сервис проверяет ссылку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C490EF-F151-42B6-B00A-EC9A81B2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340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3FC0F4-8526-439A-B0ED-368F9AD0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198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647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470"/>
                </a:solidFill>
                <a:latin typeface="Arial"/>
                <a:ea typeface="Arial"/>
                <a:cs typeface="Arial"/>
              </a:rPr>
              <a:t>PostgreSQL 16  ·  Python / FastAPI  ·  Groq  ·  REST API / Swagger</a:t>
            </a:r>
          </a:p>
        </p:txBody>
      </p:sp>
    </p:spTree>
    <p:extLst>
      <p:ext uri="{BB962C8B-B14F-4D97-AF65-F5344CB8AC3E}">
        <p14:creationId xmlns:p14="http://schemas.microsoft.com/office/powerpoint/2010/main" val="6974288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2DA804-BC2A-4150-9DCE-E4742247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666750" y="4000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B859E-0D86-417E-9AFE-A353D3D5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0">
            <a:off x="800100" y="342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eader-6">
            <a:extLst xmlns:a="http://schemas.openxmlformats.org/drawingml/2006/main">
              <a:ext uri="{FF2B5EF4-FFF2-40B4-BE49-F238E27FC236}">
                <a16:creationId xmlns:a16="http://schemas.microsoft.com/office/drawing/2014/main" id="{FB113D1F-E78C-46B5-A409-FD54CF0A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КОНТРАГЕНТУРА · ПРОМЕЖУТОЧНАЯ ВЕРСИЯ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8BD55-1B35-4557-8D81-525C8C55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71500" cy="285750"/>
          </a:xfrm>
          <a:prstGeom xmlns:a="http://schemas.openxmlformats.org/drawingml/2006/main" prst="roundRect">
            <a:avLst>
              <a:gd name="adj" fmla="val 46667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171717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58359-6732-4F74-8E30-1B62449A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ogress-title">
            <a:extLst xmlns:a="http://schemas.openxmlformats.org/drawingml/2006/main">
              <a:ext uri="{FF2B5EF4-FFF2-40B4-BE49-F238E27FC236}">
                <a16:creationId xmlns:a16="http://schemas.microsoft.com/office/drawing/2014/main" id="{E96FD042-EF8A-4518-9420-CC6AD8F6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1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15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Прототип работает сквозным потоком — качество уже измеряется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7F153-AC74-4A91-8574-F4CD7942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2428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675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100 / 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D6D18-BB22-484D-8D1C-532138A7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24175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успешных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API-проходов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70919-686B-4DE2-8A68-6416899E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09800"/>
            <a:ext cx="190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C9501-D1A3-4083-AA01-7B9A8E36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43125"/>
            <a:ext cx="2428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1 352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38078-867F-459E-A639-624774DC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24175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утверждения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 контрольном прогоне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2869C-B50B-4D4B-B24C-857002BE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09800"/>
            <a:ext cx="190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BE440F-A4D2-450B-9A96-96425F39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43125"/>
            <a:ext cx="2428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>
                <a:solidFill>
                  <a:srgbClr val="E52B2F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E52B2F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80421-678F-463B-B107-0530D79D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24175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ссылок на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несуществующие факты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F2D4A-DA2A-42BC-9DF4-FAD8C0EF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09800"/>
            <a:ext cx="190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37DD2A-90C5-4093-91B9-BAEA28C5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43125"/>
            <a:ext cx="2428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063F8C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063F8C"/>
                </a:solidFill>
                <a:latin typeface="Georgia"/>
                <a:ea typeface="Georgia"/>
                <a:cs typeface="Georgia"/>
              </a:rPr>
              <a:t>≈ 5 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A5ADB-32A4-4042-8212-85A5A5FA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924175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живой проход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 одному ИНН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834B6-7D95-4182-9858-94650584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5B46AD-B74F-42E6-BEDC-7FE17620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E52B2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52B2F"/>
                </a:solidFill>
                <a:latin typeface="Arial"/>
                <a:ea typeface="Arial"/>
                <a:cs typeface="Arial"/>
              </a:rPr>
              <a:t>ДО ФИНАЛЬНОЙ ЗАЩИТЫ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A9549-361C-43CF-8C9C-FCD9903D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04–05.09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147A8-47D2-4054-90EA-E7953D39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3872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Диалог + банк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из 30 вопросов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CA68D-EC23-465E-95E7-A2F0E033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57775"/>
            <a:ext cx="4953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9525">
            <a:solidFill>
              <a:srgbClr val="F6B8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5D42C-E855-4CEC-B343-0796F92C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6958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05–06.09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80C241-A2DD-44FA-8E0E-27ABD523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387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Сравнение ИНН +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разметка 50 утверждений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F29A50-4838-4579-B766-9C9A84EB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57775"/>
            <a:ext cx="4953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6B800"/>
          </a:solidFill>
          <a:ln xmlns:a="http://schemas.openxmlformats.org/drawingml/2006/main" w="9525">
            <a:solidFill>
              <a:srgbClr val="F6B8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8DF44-6651-40B1-BB7F-09386743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958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63F8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63F8C"/>
                </a:solidFill>
                <a:latin typeface="Arial"/>
                <a:ea typeface="Arial"/>
                <a:cs typeface="Arial"/>
              </a:rPr>
              <a:t>06.09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A1E19-6C24-4BAA-B087-E16ED5E9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3872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Сценарии приёмки +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полировка демо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BDE02C-9C49-4184-BFD3-5B5263DB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025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2B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0A12B7-8D14-48A7-9109-DD5FA94A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7695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Открытый риск: серия запусков на бесплатном лимите Groq может занять 30–60 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ED78BF-F620-4C6C-9A6B-1B15B65D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07695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FFF5C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5CD"/>
                </a:solidFill>
                <a:latin typeface="Arial"/>
                <a:ea typeface="Arial"/>
                <a:cs typeface="Arial"/>
              </a:rPr>
              <a:t>переключение между моделями уже реализовано</a:t>
            </a:r>
          </a:p>
        </p:txBody>
      </p:sp>
    </p:spTree>
    <p:extLst>
      <p:ext uri="{BB962C8B-B14F-4D97-AF65-F5344CB8AC3E}">
        <p14:creationId xmlns:p14="http://schemas.microsoft.com/office/powerpoint/2010/main" val="16782870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2026-09-04T06:03:25.5660000Z</dcterms:created>
  <dcterms:modified xsi:type="dcterms:W3CDTF">2026-09-04T06:03:25.5660000Z</dcterms:modified>
</coreProperties>
</file>